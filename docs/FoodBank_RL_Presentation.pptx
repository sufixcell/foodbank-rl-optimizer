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Food Bank Resource Allocation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RL decision-support prototype for fair, nutritious and low-waste food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/>
            </a:pPr>
            <a:r>
              <a:t>CT-469 Reinforcement Learning</a:t>
            </a:r>
          </a:p>
          <a:p>
            <a:pPr>
              <a:spcAft>
                <a:spcPts val="800"/>
              </a:spcAft>
              <a:defRPr sz="2300"/>
            </a:pPr>
            <a:r>
              <a:t>Instructor: Dr. Murk Marvi</a:t>
            </a:r>
          </a:p>
          <a:p>
            <a:pPr>
              <a:spcAft>
                <a:spcPts val="800"/>
              </a:spcAft>
              <a:defRPr sz="2300"/>
            </a:pPr>
            <a:r>
              <a:t>Group: AI 22041 Talha Noor, AI 22047 Sufiyan Nadeem, AI 22044 Ali Rana</a:t>
            </a:r>
          </a:p>
          <a:p>
            <a:pPr>
              <a:spcAft>
                <a:spcPts val="800"/>
              </a:spcAft>
              <a:defRPr sz="2300"/>
            </a:pPr>
            <a:r>
              <a:t>NED University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Food bank allocation is not only a queue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Limited donations must be allocated before expiry.</a:t>
            </a:r>
          </a:p>
          <a:p>
            <a:pPr>
              <a:spcAft>
                <a:spcPts val="800"/>
              </a:spcAft>
              <a:defRPr sz="2100"/>
            </a:pPr>
            <a:r>
              <a:t>Families have different sizes, need levels and dietary restrictions.</a:t>
            </a:r>
          </a:p>
          <a:p>
            <a:pPr>
              <a:spcAft>
                <a:spcPts val="800"/>
              </a:spcAft>
              <a:defRPr sz="2100"/>
            </a:pPr>
            <a:r>
              <a:t>Manual rules can maximize one metric but fail on fairness or dignity.</a:t>
            </a:r>
          </a:p>
          <a:p>
            <a:pPr>
              <a:spcAft>
                <a:spcPts val="800"/>
              </a:spcAft>
              <a:defRPr sz="2100"/>
            </a:pPr>
            <a:r>
              <a:t>Goal: learn a balanced allocation policy and compare it to non-RL baselines.</a:t>
            </a:r>
          </a:p>
        </p:txBody>
      </p:sp>
      <p:pic>
        <p:nvPicPr>
          <p:cNvPr id="5" name="Picture 4" descr="nutri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Deliverables 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Source code repository structure with modular files.</a:t>
            </a:r>
          </a:p>
          <a:p>
            <a:pPr>
              <a:spcAft>
                <a:spcPts val="800"/>
              </a:spcAft>
              <a:defRPr sz="2200"/>
            </a:pPr>
            <a:r>
              <a:t>README setup instructions.</a:t>
            </a:r>
          </a:p>
          <a:p>
            <a:pPr>
              <a:spcAft>
                <a:spcPts val="800"/>
              </a:spcAft>
              <a:defRPr sz="2200"/>
            </a:pPr>
            <a:r>
              <a:t>Browser-based Streamlit web interface.</a:t>
            </a:r>
          </a:p>
          <a:p>
            <a:pPr>
              <a:spcAft>
                <a:spcPts val="800"/>
              </a:spcAft>
              <a:defRPr sz="2200"/>
            </a:pPr>
            <a:r>
              <a:t>Standalone training script: train.py.</a:t>
            </a:r>
          </a:p>
          <a:p>
            <a:pPr>
              <a:spcAft>
                <a:spcPts val="800"/>
              </a:spcAft>
              <a:defRPr sz="2200"/>
            </a:pPr>
            <a:r>
              <a:t>Saved DQN model: models/dqn_foodbank.pt.</a:t>
            </a:r>
          </a:p>
          <a:p>
            <a:pPr>
              <a:spcAft>
                <a:spcPts val="800"/>
              </a:spcAft>
              <a:defRPr sz="2200"/>
            </a:pPr>
            <a:r>
              <a:t>Custom environment and multiple non-RL baselines.</a:t>
            </a:r>
          </a:p>
          <a:p>
            <a:pPr>
              <a:spcAft>
                <a:spcPts val="800"/>
              </a:spcAft>
              <a:defRPr sz="2200"/>
            </a:pPr>
            <a:r>
              <a:t>Report and presentation with final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environment/foodbank_env.py -&gt; custom simulation</a:t>
            </a:r>
          </a:p>
          <a:p>
            <a:pPr>
              <a:spcAft>
                <a:spcPts val="800"/>
              </a:spcAft>
              <a:defRPr sz="2100"/>
            </a:pPr>
            <a:r>
              <a:t>agents/dqn_agent.py -&gt; dueling Double-DQN</a:t>
            </a:r>
          </a:p>
          <a:p>
            <a:pPr>
              <a:spcAft>
                <a:spcPts val="800"/>
              </a:spcAft>
              <a:defRPr sz="2100"/>
            </a:pPr>
            <a:r>
              <a:t>agents/baselines.py -&gt; non-RL comparison methods</a:t>
            </a:r>
          </a:p>
          <a:p>
            <a:pPr>
              <a:spcAft>
                <a:spcPts val="800"/>
              </a:spcAft>
              <a:defRPr sz="2100"/>
            </a:pPr>
            <a:r>
              <a:t>train.py -&gt; learning loop and saved model</a:t>
            </a:r>
          </a:p>
          <a:p>
            <a:pPr>
              <a:spcAft>
                <a:spcPts val="800"/>
              </a:spcAft>
              <a:defRPr sz="2100"/>
            </a:pPr>
            <a:r>
              <a:t>test.py -&gt; final evaluation graphs/CSV</a:t>
            </a:r>
          </a:p>
          <a:p>
            <a:pPr>
              <a:spcAft>
                <a:spcPts val="800"/>
              </a:spcAft>
              <a:defRPr sz="2100"/>
            </a:pPr>
            <a:r>
              <a:t>app.py -&gt; live Streamlit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371600"/>
            <a:ext cx="2468880" cy="1143000"/>
          </a:xfrm>
          <a:prstGeom prst="roundRect">
            <a:avLst/>
          </a:prstGeom>
          <a:solidFill>
            <a:srgbClr val="EBF4FA"/>
          </a:solidFill>
          <a:ln>
            <a:solidFill>
              <a:srgbClr val="A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A5A5A"/>
                </a:solidFill>
              </a:defRPr>
            </a:pPr>
            <a:r>
              <a:t>Saved model</a:t>
            </a:r>
          </a:p>
          <a:p>
            <a:pPr>
              <a:defRPr sz="2400" b="1">
                <a:solidFill>
                  <a:srgbClr val="1F4E79"/>
                </a:solidFill>
              </a:defRPr>
            </a:pPr>
            <a:r>
              <a:t>included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371600"/>
            <a:ext cx="2468880" cy="1143000"/>
          </a:xfrm>
          <a:prstGeom prst="roundRect">
            <a:avLst/>
          </a:prstGeom>
          <a:solidFill>
            <a:srgbClr val="EBF4FA"/>
          </a:solidFill>
          <a:ln>
            <a:solidFill>
              <a:srgbClr val="A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A5A5A"/>
                </a:solidFill>
              </a:defRPr>
            </a:pPr>
            <a:r>
              <a:t>Baselines</a:t>
            </a:r>
          </a:p>
          <a:p>
            <a:pPr>
              <a:defRPr sz="2400" b="1">
                <a:solidFill>
                  <a:srgbClr val="1F4E79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2743200"/>
            <a:ext cx="2468880" cy="1143000"/>
          </a:xfrm>
          <a:prstGeom prst="roundRect">
            <a:avLst/>
          </a:prstGeom>
          <a:solidFill>
            <a:srgbClr val="EBF4FA"/>
          </a:solidFill>
          <a:ln>
            <a:solidFill>
              <a:srgbClr val="A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A5A5A"/>
                </a:solidFill>
              </a:defRPr>
            </a:pPr>
            <a:r>
              <a:t>Reward</a:t>
            </a:r>
          </a:p>
          <a:p>
            <a:pPr>
              <a:defRPr sz="2400" b="1">
                <a:solidFill>
                  <a:srgbClr val="1F4E79"/>
                </a:solidFill>
              </a:defRPr>
            </a:pPr>
            <a:r>
              <a:t>positive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743200"/>
            <a:ext cx="2468880" cy="1143000"/>
          </a:xfrm>
          <a:prstGeom prst="roundRect">
            <a:avLst/>
          </a:prstGeom>
          <a:solidFill>
            <a:srgbClr val="EBF4FA"/>
          </a:solidFill>
          <a:ln>
            <a:solidFill>
              <a:srgbClr val="A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A5A5A"/>
                </a:solidFill>
              </a:defRPr>
            </a:pPr>
            <a:r>
              <a:t>Demo</a:t>
            </a:r>
          </a:p>
          <a:p>
            <a:pPr>
              <a:defRPr sz="2400" b="1">
                <a:solidFill>
                  <a:srgbClr val="1F4E79"/>
                </a:solidFill>
              </a:defRPr>
            </a:pPr>
            <a:r>
              <a:t>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RL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/>
            </a:pPr>
            <a:r>
              <a:t>State: inventory quantity, days-to-expiry, nutrition, category, budget, need, coverage and fairness.</a:t>
            </a:r>
          </a:p>
          <a:p>
            <a:pPr>
              <a:spcAft>
                <a:spcPts val="800"/>
              </a:spcAft>
              <a:defRPr sz="2300"/>
            </a:pPr>
            <a:r>
              <a:t>Action: choose an allocation strategy rather than a raw family ID.</a:t>
            </a:r>
          </a:p>
          <a:p>
            <a:pPr>
              <a:spcAft>
                <a:spcPts val="800"/>
              </a:spcAft>
              <a:defRPr sz="2300"/>
            </a:pPr>
            <a:r>
              <a:t>Reward: positive points for useful allocation behavior.</a:t>
            </a:r>
          </a:p>
          <a:p>
            <a:pPr>
              <a:spcAft>
                <a:spcPts val="800"/>
              </a:spcAft>
              <a:defRPr sz="2300"/>
            </a:pPr>
            <a:r>
              <a:t>Objective: maximize a balanced score across nutrition, fairness, waste and dietary compatibility.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DQN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/>
            </a:pPr>
            <a:r>
              <a:t>Dueling network: separates state value from action advantage.</a:t>
            </a:r>
          </a:p>
          <a:p>
            <a:pPr>
              <a:spcAft>
                <a:spcPts val="800"/>
              </a:spcAft>
              <a:defRPr sz="2300"/>
            </a:pPr>
            <a:r>
              <a:t>Double-DQN target: reduces Q-value overestimation.</a:t>
            </a:r>
          </a:p>
          <a:p>
            <a:pPr>
              <a:spcAft>
                <a:spcPts val="800"/>
              </a:spcAft>
              <a:defRPr sz="2300"/>
            </a:pPr>
            <a:r>
              <a:t>Replay buffer: learns from past allocation transitions.</a:t>
            </a:r>
          </a:p>
          <a:p>
            <a:pPr>
              <a:spcAft>
                <a:spcPts val="800"/>
              </a:spcAft>
              <a:defRPr sz="2300"/>
            </a:pPr>
            <a:r>
              <a:t>Target network: improves training stability.</a:t>
            </a:r>
          </a:p>
          <a:p>
            <a:pPr>
              <a:spcAft>
                <a:spcPts val="800"/>
              </a:spcAft>
              <a:defRPr sz="2300"/>
            </a:pPr>
            <a:r>
              <a:t>Evaluation uses epsilon=0 for the learned greedy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Non-RL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First-Come-First-Served: queue-based manual rule.</a:t>
            </a:r>
          </a:p>
          <a:p>
            <a:pPr>
              <a:spcAft>
                <a:spcPts val="800"/>
              </a:spcAft>
              <a:defRPr sz="2400"/>
            </a:pPr>
            <a:r>
              <a:t>Greedy Expiry: prioritizes food closest to expiry.</a:t>
            </a:r>
          </a:p>
          <a:p>
            <a:pPr>
              <a:spcAft>
                <a:spcPts val="800"/>
              </a:spcAft>
              <a:defRPr sz="2400"/>
            </a:pPr>
            <a:r>
              <a:t>Nutrition-First: maximizes raw nutrition only.</a:t>
            </a:r>
          </a:p>
          <a:p>
            <a:pPr>
              <a:spcAft>
                <a:spcPts val="800"/>
              </a:spcAft>
              <a:defRPr sz="2400"/>
            </a:pPr>
            <a:r>
              <a:t>Fairness-First: prioritizes under-covered families.</a:t>
            </a:r>
          </a:p>
          <a:p>
            <a:pPr>
              <a:spcAft>
                <a:spcPts val="800"/>
              </a:spcAft>
              <a:defRPr sz="2400"/>
            </a:pPr>
            <a:r>
              <a:t>Random: lower-bound reference.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Final Result: Positive Reward</a:t>
            </a:r>
          </a:p>
        </p:txBody>
      </p:sp>
      <p:pic>
        <p:nvPicPr>
          <p:cNvPr id="3" name="Picture 2" descr="rewar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DQN achieved the highest mean reward: 288.21.</a:t>
            </a:r>
          </a:p>
          <a:p>
            <a:pPr>
              <a:spcAft>
                <a:spcPts val="800"/>
              </a:spcAft>
              <a:defRPr sz="2100"/>
            </a:pPr>
            <a:r>
              <a:t>Fairness-First was the strongest non-RL competitor: 286.86.</a:t>
            </a:r>
          </a:p>
          <a:p>
            <a:pPr>
              <a:spcAft>
                <a:spcPts val="800"/>
              </a:spcAft>
              <a:defRPr sz="2100"/>
            </a:pPr>
            <a:r>
              <a:t>Nutrition-First delivered high raw nutrition but had weak fairness and coverage balance.</a:t>
            </a:r>
          </a:p>
          <a:p>
            <a:pPr>
              <a:spcAft>
                <a:spcPts val="800"/>
              </a:spcAft>
              <a:defRPr sz="2100"/>
            </a:pPr>
            <a:r>
              <a:t>DQN reduced dietary mismatches to 2.58, far below FCFS (14.50).</a:t>
            </a:r>
          </a:p>
          <a:p>
            <a:pPr>
              <a:spcAft>
                <a:spcPts val="800"/>
              </a:spcAft>
              <a:defRPr sz="2100"/>
            </a:pPr>
            <a:r>
              <a:t>Conclusion: DQN learned the best overall multi-objective policy.</a:t>
            </a:r>
          </a:p>
        </p:txBody>
      </p:sp>
      <p:pic>
        <p:nvPicPr>
          <p:cNvPr id="4" name="Picture 3" descr="mean_coverag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08760"/>
            <a:ext cx="5029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Training Progress</a:t>
            </a:r>
          </a:p>
        </p:txBody>
      </p:sp>
      <p:pic>
        <p:nvPicPr>
          <p:cNvPr id="3" name="Picture 2" descr="training_rew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43000"/>
            <a:ext cx="102412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Fairness and Constraints</a:t>
            </a:r>
          </a:p>
        </p:txBody>
      </p:sp>
      <p:pic>
        <p:nvPicPr>
          <p:cNvPr id="3" name="Picture 2" descr="fairness_ga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5577840" cy="2788920"/>
          </a:xfrm>
          <a:prstGeom prst="rect">
            <a:avLst/>
          </a:prstGeom>
        </p:spPr>
      </p:pic>
      <p:pic>
        <p:nvPicPr>
          <p:cNvPr id="4" name="Picture 3" descr="nutri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Live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Run: python -m streamlit run app.py</a:t>
            </a:r>
          </a:p>
          <a:p>
            <a:pPr>
              <a:spcAft>
                <a:spcPts val="800"/>
              </a:spcAft>
              <a:defRPr sz="2200"/>
            </a:pPr>
            <a:r>
              <a:t>Show starting inventory and recipient snapshot.</a:t>
            </a:r>
          </a:p>
          <a:p>
            <a:pPr>
              <a:spcAft>
                <a:spcPts val="800"/>
              </a:spcAft>
              <a:defRPr sz="2200"/>
            </a:pPr>
            <a:r>
              <a:t>Click “Run one full comparison episode”.</a:t>
            </a:r>
          </a:p>
          <a:p>
            <a:pPr>
              <a:spcAft>
                <a:spcPts val="800"/>
              </a:spcAft>
              <a:defRPr sz="2200"/>
            </a:pPr>
            <a:r>
              <a:t>Explain Reward, Nutrition, Expired Units, Fairness Gap, Mean Coverage and Mismatches.</a:t>
            </a:r>
          </a:p>
          <a:p>
            <a:pPr>
              <a:spcAft>
                <a:spcPts val="800"/>
              </a:spcAft>
              <a:defRPr sz="2200"/>
            </a:pPr>
            <a:r>
              <a:t>Mention that final evaluation is based on repeated test.py episodes.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/>
            </a:pPr>
            <a:r>
              <a:t>Data is simulated, not collected from a real food bank.</a:t>
            </a:r>
          </a:p>
          <a:p>
            <a:pPr>
              <a:spcAft>
                <a:spcPts val="800"/>
              </a:spcAft>
              <a:defRPr sz="2300"/>
            </a:pPr>
            <a:r>
              <a:t>Expiry dynamics are simplified.</a:t>
            </a:r>
          </a:p>
          <a:p>
            <a:pPr>
              <a:spcAft>
                <a:spcPts val="800"/>
              </a:spcAft>
              <a:defRPr sz="2300"/>
            </a:pPr>
            <a:r>
              <a:t>Future: real donation data, multi-location routing, demand forecasting, stronger constrained RL and recipient self-selection.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/>
            </a:pPr>
            <a:r>
              <a:t>Complete working RL prototype.</a:t>
            </a:r>
          </a:p>
          <a:p>
            <a:pPr>
              <a:spcAft>
                <a:spcPts val="800"/>
              </a:spcAft>
              <a:defRPr sz="2500"/>
            </a:pPr>
            <a:r>
              <a:t>Positive, explainable reward system.</a:t>
            </a:r>
          </a:p>
          <a:p>
            <a:pPr>
              <a:spcAft>
                <a:spcPts val="800"/>
              </a:spcAft>
              <a:defRPr sz="2500"/>
            </a:pPr>
            <a:r>
              <a:t>DQN trained and saved for immediate testing.</a:t>
            </a:r>
          </a:p>
          <a:p>
            <a:pPr>
              <a:spcAft>
                <a:spcPts val="800"/>
              </a:spcAft>
              <a:defRPr sz="2500"/>
            </a:pPr>
            <a:r>
              <a:t>Five non-RL baselines included.</a:t>
            </a:r>
          </a:p>
          <a:p>
            <a:pPr>
              <a:spcAft>
                <a:spcPts val="800"/>
              </a:spcAft>
              <a:defRPr sz="2500"/>
            </a:pPr>
            <a:r>
              <a:t>Final results show DQN has the best overall reward.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